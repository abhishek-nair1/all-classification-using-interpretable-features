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Roboto Serif"/>
      <p:regular r:id="rId14"/>
      <p:bold r:id="rId15"/>
      <p:italic r:id="rId16"/>
      <p:boldItalic r:id="rId17"/>
    </p:embeddedFont>
    <p:embeddedFont>
      <p:font typeface="Roboto"/>
      <p:regular r:id="rId18"/>
      <p:bold r:id="rId19"/>
      <p:italic r:id="rId20"/>
      <p:boldItalic r:id="rId21"/>
    </p:embeddedFont>
    <p:embeddedFont>
      <p:font typeface="Merriweather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Merriweather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Merriweather-italic.fntdata"/><Relationship Id="rId23" Type="http://schemas.openxmlformats.org/officeDocument/2006/relationships/font" Target="fonts/Merriweath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Merriweather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RobotoSerif-bold.fntdata"/><Relationship Id="rId14" Type="http://schemas.openxmlformats.org/officeDocument/2006/relationships/font" Target="fonts/RobotoSerif-regular.fntdata"/><Relationship Id="rId17" Type="http://schemas.openxmlformats.org/officeDocument/2006/relationships/font" Target="fonts/RobotoSerif-boldItalic.fntdata"/><Relationship Id="rId16" Type="http://schemas.openxmlformats.org/officeDocument/2006/relationships/font" Target="fonts/RobotoSerif-italic.fntdata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f6a2dda54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f6a2dda54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f6a2dda54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f6a2dda54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f6a2dda54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f6a2dda54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f6a2dda5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cf6a2dda5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f6a2dda54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f6a2dda54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f6a2dda54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cf6a2dda54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f6a2dda54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cf6a2dda54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6" name="Google Shape;56;p14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61" name="Google Shape;61;p15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62" name="Google Shape;62;p15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6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7" name="Google Shape;67;p16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68" name="Google Shape;68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9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p19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8" name="Google Shape;8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1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3" name="Google Shape;93;p21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2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98" name="Google Shape;9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1" name="Google Shape;101;p23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2" name="Google Shape;10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Relationship Id="rId4" Type="http://schemas.openxmlformats.org/officeDocument/2006/relationships/image" Target="../media/image13.jp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Relationship Id="rId4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4.jpg"/><Relationship Id="rId5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of Acute Lymphoblastic Leukemia</a:t>
            </a:r>
            <a:endParaRPr/>
          </a:p>
        </p:txBody>
      </p:sp>
      <p:sp>
        <p:nvSpPr>
          <p:cNvPr id="110" name="Google Shape;110;p25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Kshetrimayum Paresh Singh 23160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Kushagra Agarwal 23162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Abhishek Nair 23009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3551" y="238164"/>
            <a:ext cx="3820599" cy="137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6"/>
          <p:cNvSpPr txBox="1"/>
          <p:nvPr/>
        </p:nvSpPr>
        <p:spPr>
          <a:xfrm>
            <a:off x="6572000" y="919864"/>
            <a:ext cx="19029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74E13"/>
                </a:solidFill>
                <a:latin typeface="Roboto Serif"/>
                <a:ea typeface="Roboto Serif"/>
                <a:cs typeface="Roboto Serif"/>
                <a:sym typeface="Roboto Serif"/>
              </a:rPr>
              <a:t>GOOD!!</a:t>
            </a:r>
            <a:r>
              <a:rPr lang="en" sz="24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lang="en" sz="1200">
                <a:solidFill>
                  <a:srgbClr val="BFBFBF"/>
                </a:solidFill>
                <a:highlight>
                  <a:srgbClr val="1F1F1F"/>
                </a:highlight>
              </a:rPr>
              <a:t> ✅ 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7" name="Google Shape;11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2875" y="1725800"/>
            <a:ext cx="2542525" cy="311755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6"/>
          <p:cNvSpPr txBox="1"/>
          <p:nvPr/>
        </p:nvSpPr>
        <p:spPr>
          <a:xfrm>
            <a:off x="6733300" y="4256175"/>
            <a:ext cx="14679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BAD!!! </a:t>
            </a:r>
            <a:r>
              <a:rPr lang="en" sz="2400">
                <a:solidFill>
                  <a:srgbClr val="CC0000"/>
                </a:solidFill>
                <a:latin typeface="Roboto Serif"/>
                <a:ea typeface="Roboto Serif"/>
                <a:cs typeface="Roboto Serif"/>
                <a:sym typeface="Roboto Serif"/>
              </a:rPr>
              <a:t>X</a:t>
            </a:r>
            <a:endParaRPr sz="2400">
              <a:solidFill>
                <a:srgbClr val="CC0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119" name="Google Shape;119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6276" y="1124401"/>
            <a:ext cx="3609239" cy="3175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p26"/>
          <p:cNvCxnSpPr/>
          <p:nvPr/>
        </p:nvCxnSpPr>
        <p:spPr>
          <a:xfrm flipH="1">
            <a:off x="4384475" y="-6525"/>
            <a:ext cx="43500" cy="520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" name="Google Shape;121;p26"/>
          <p:cNvSpPr txBox="1"/>
          <p:nvPr/>
        </p:nvSpPr>
        <p:spPr>
          <a:xfrm>
            <a:off x="165300" y="123975"/>
            <a:ext cx="3871200" cy="8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BASELINE MODEL: Random Forest directly trained on pixels values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26"/>
          <p:cNvSpPr txBox="1"/>
          <p:nvPr/>
        </p:nvSpPr>
        <p:spPr>
          <a:xfrm>
            <a:off x="5697480" y="-72903"/>
            <a:ext cx="2438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Medically Relevant Features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26"/>
          <p:cNvSpPr txBox="1"/>
          <p:nvPr/>
        </p:nvSpPr>
        <p:spPr>
          <a:xfrm>
            <a:off x="6288847" y="4788975"/>
            <a:ext cx="1581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Complex Features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 txBox="1"/>
          <p:nvPr>
            <p:ph type="title"/>
          </p:nvPr>
        </p:nvSpPr>
        <p:spPr>
          <a:xfrm>
            <a:off x="311700" y="539725"/>
            <a:ext cx="43554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Extraction:</a:t>
            </a:r>
            <a:endParaRPr/>
          </a:p>
        </p:txBody>
      </p:sp>
      <p:sp>
        <p:nvSpPr>
          <p:cNvPr id="129" name="Google Shape;129;p27"/>
          <p:cNvSpPr txBox="1"/>
          <p:nvPr/>
        </p:nvSpPr>
        <p:spPr>
          <a:xfrm>
            <a:off x="115950" y="1320125"/>
            <a:ext cx="5671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-"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Manual Feature Extraction 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-"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22 features extracted that was cut down to 18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-"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Nucleus</a:t>
            </a: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- Cytoplasm features and Shape features are the main features of our model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0" name="Google Shape;13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7250" y="348150"/>
            <a:ext cx="3226100" cy="4353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6200" y="2428325"/>
            <a:ext cx="3807999" cy="258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 txBox="1"/>
          <p:nvPr>
            <p:ph type="title"/>
          </p:nvPr>
        </p:nvSpPr>
        <p:spPr>
          <a:xfrm>
            <a:off x="256350" y="0"/>
            <a:ext cx="8631300" cy="12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Challenge &amp; Models Comparison:</a:t>
            </a:r>
            <a:endParaRPr/>
          </a:p>
        </p:txBody>
      </p:sp>
      <p:sp>
        <p:nvSpPr>
          <p:cNvPr id="137" name="Google Shape;137;p28"/>
          <p:cNvSpPr txBox="1"/>
          <p:nvPr/>
        </p:nvSpPr>
        <p:spPr>
          <a:xfrm>
            <a:off x="5845700" y="3397100"/>
            <a:ext cx="25419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PBS images have RBCs and different types of WBCs. We had to identify RBCs and WBCs and identify the lymphoblasts with clear nucleus and cytoplasm. 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8" name="Google Shape;138;p28"/>
          <p:cNvPicPr preferRelativeResize="0"/>
          <p:nvPr/>
        </p:nvPicPr>
        <p:blipFill rotWithShape="1">
          <a:blip r:embed="rId3">
            <a:alphaModFix/>
          </a:blip>
          <a:srcRect b="0" l="0" r="14023" t="0"/>
          <a:stretch/>
        </p:blipFill>
        <p:spPr>
          <a:xfrm>
            <a:off x="154450" y="700350"/>
            <a:ext cx="4487674" cy="248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925" y="3397100"/>
            <a:ext cx="5010249" cy="143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8"/>
          <p:cNvSpPr txBox="1"/>
          <p:nvPr/>
        </p:nvSpPr>
        <p:spPr>
          <a:xfrm>
            <a:off x="362402" y="3105245"/>
            <a:ext cx="42300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FINE TUNING THE BEST MODEL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1" name="Google Shape;141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5125" y="763975"/>
            <a:ext cx="4362724" cy="235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"/>
          <p:cNvSpPr txBox="1"/>
          <p:nvPr>
            <p:ph type="title"/>
          </p:nvPr>
        </p:nvSpPr>
        <p:spPr>
          <a:xfrm>
            <a:off x="0" y="0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Thresholding</a:t>
            </a:r>
            <a:endParaRPr/>
          </a:p>
        </p:txBody>
      </p:sp>
      <p:pic>
        <p:nvPicPr>
          <p:cNvPr id="147" name="Google Shape;14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650" y="2312100"/>
            <a:ext cx="5097098" cy="24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9"/>
          <p:cNvSpPr txBox="1"/>
          <p:nvPr/>
        </p:nvSpPr>
        <p:spPr>
          <a:xfrm>
            <a:off x="154650" y="667250"/>
            <a:ext cx="2903100" cy="20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Normal vs Abnormal</a:t>
            </a:r>
            <a:endParaRPr b="1" i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ROC Curve Analysis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Distribution Analysis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Decision Tree Split Points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29"/>
          <p:cNvSpPr txBox="1"/>
          <p:nvPr/>
        </p:nvSpPr>
        <p:spPr>
          <a:xfrm>
            <a:off x="5617500" y="700400"/>
            <a:ext cx="2903100" cy="20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Multi-Class Thresholding</a:t>
            </a:r>
            <a:endParaRPr b="1" i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One vs Rest ROC Analysis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Statistical Range Analysis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Decision Boundary Ranges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0" name="Google Shape;15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8577" y="2305472"/>
            <a:ext cx="3136900" cy="239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>
            <p:ph type="title"/>
          </p:nvPr>
        </p:nvSpPr>
        <p:spPr>
          <a:xfrm>
            <a:off x="322575" y="202625"/>
            <a:ext cx="2006700" cy="8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Results:</a:t>
            </a:r>
            <a:endParaRPr/>
          </a:p>
        </p:txBody>
      </p:sp>
      <p:pic>
        <p:nvPicPr>
          <p:cNvPr id="156" name="Google Shape;15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695" y="866100"/>
            <a:ext cx="4983451" cy="4277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5436" y="152449"/>
            <a:ext cx="3494964" cy="346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63100" y="3771550"/>
            <a:ext cx="4727300" cy="132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30"/>
          <p:cNvSpPr txBox="1"/>
          <p:nvPr/>
        </p:nvSpPr>
        <p:spPr>
          <a:xfrm>
            <a:off x="2753350" y="202625"/>
            <a:ext cx="19140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Our final model was an 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IF-ELSE MODEL!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>
            <p:ph type="title"/>
          </p:nvPr>
        </p:nvSpPr>
        <p:spPr>
          <a:xfrm>
            <a:off x="741350" y="1126950"/>
            <a:ext cx="33333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165" name="Google Shape;165;p31"/>
          <p:cNvSpPr txBox="1"/>
          <p:nvPr/>
        </p:nvSpPr>
        <p:spPr>
          <a:xfrm>
            <a:off x="2310225" y="3897325"/>
            <a:ext cx="6567900" cy="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Contributions: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Kshetrimayum Paresh Singh and Abhishek Nair: Worked on Feature Extraction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Kushagra: Worked on Model building and interpretation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